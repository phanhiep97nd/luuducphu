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2" r:id="rId5"/>
    <p:sldId id="259" r:id="rId6"/>
    <p:sldId id="260" r:id="rId7"/>
    <p:sldId id="263" r:id="rId8"/>
    <p:sldId id="268" r:id="rId9"/>
    <p:sldId id="270" r:id="rId10"/>
    <p:sldId id="271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738D0F-F62E-4585-8263-8A47F143D5C0}" type="datetimeFigureOut">
              <a:rPr lang="en-US" smtClean="0"/>
              <a:t>2020/04/16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1D765-8364-4982-8664-C3A1D4E55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43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1D765-8364-4982-8664-C3A1D4E5509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368B3-F832-4E13-918B-D2C1F6F071CC}" type="datetimeFigureOut">
              <a:rPr lang="en-US" smtClean="0"/>
              <a:t>2020/04/16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191DC-B257-4225-AE1F-EF94B9404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44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368B3-F832-4E13-918B-D2C1F6F071CC}" type="datetimeFigureOut">
              <a:rPr lang="en-US" smtClean="0"/>
              <a:t>2020/04/16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191DC-B257-4225-AE1F-EF94B9404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38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368B3-F832-4E13-918B-D2C1F6F071CC}" type="datetimeFigureOut">
              <a:rPr lang="en-US" smtClean="0"/>
              <a:t>2020/04/16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191DC-B257-4225-AE1F-EF94B9404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7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368B3-F832-4E13-918B-D2C1F6F071CC}" type="datetimeFigureOut">
              <a:rPr lang="en-US" smtClean="0"/>
              <a:t>2020/04/16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191DC-B257-4225-AE1F-EF94B9404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1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368B3-F832-4E13-918B-D2C1F6F071CC}" type="datetimeFigureOut">
              <a:rPr lang="en-US" smtClean="0"/>
              <a:t>2020/04/16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191DC-B257-4225-AE1F-EF94B9404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34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368B3-F832-4E13-918B-D2C1F6F071CC}" type="datetimeFigureOut">
              <a:rPr lang="en-US" smtClean="0"/>
              <a:t>2020/04/16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191DC-B257-4225-AE1F-EF94B9404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09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368B3-F832-4E13-918B-D2C1F6F071CC}" type="datetimeFigureOut">
              <a:rPr lang="en-US" smtClean="0"/>
              <a:t>2020/04/16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191DC-B257-4225-AE1F-EF94B9404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38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368B3-F832-4E13-918B-D2C1F6F071CC}" type="datetimeFigureOut">
              <a:rPr lang="en-US" smtClean="0"/>
              <a:t>2020/04/16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191DC-B257-4225-AE1F-EF94B9404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94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368B3-F832-4E13-918B-D2C1F6F071CC}" type="datetimeFigureOut">
              <a:rPr lang="en-US" smtClean="0"/>
              <a:t>2020/04/16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191DC-B257-4225-AE1F-EF94B9404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92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368B3-F832-4E13-918B-D2C1F6F071CC}" type="datetimeFigureOut">
              <a:rPr lang="en-US" smtClean="0"/>
              <a:t>2020/04/16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191DC-B257-4225-AE1F-EF94B9404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08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368B3-F832-4E13-918B-D2C1F6F071CC}" type="datetimeFigureOut">
              <a:rPr lang="en-US" smtClean="0"/>
              <a:t>2020/04/16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191DC-B257-4225-AE1F-EF94B9404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95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368B3-F832-4E13-918B-D2C1F6F071CC}" type="datetimeFigureOut">
              <a:rPr lang="en-US" smtClean="0"/>
              <a:t>2020/04/16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191DC-B257-4225-AE1F-EF94B9404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9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81797"/>
          </a:xfrm>
        </p:spPr>
        <p:txBody>
          <a:bodyPr>
            <a:normAutofit/>
          </a:bodyPr>
          <a:lstStyle/>
          <a:p>
            <a:r>
              <a:rPr lang="en-US" sz="11500" dirty="0" smtClean="0">
                <a:solidFill>
                  <a:srgbClr val="FF0000"/>
                </a:solidFill>
              </a:rPr>
              <a:t>Debug</a:t>
            </a:r>
            <a:endParaRPr lang="en-US" sz="11500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3577" y="2992437"/>
            <a:ext cx="5024846" cy="2546213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endParaRPr lang="en-US" dirty="0" smtClean="0"/>
          </a:p>
          <a:p>
            <a:pPr marL="457200" indent="-457200" algn="l">
              <a:buFont typeface="+mj-lt"/>
              <a:buAutoNum type="arabicPeriod"/>
            </a:pPr>
            <a:r>
              <a:rPr lang="en-US" sz="3500" dirty="0" smtClean="0"/>
              <a:t>D</a:t>
            </a:r>
            <a:r>
              <a:rPr lang="en-US" sz="3500" dirty="0" smtClean="0"/>
              <a:t>ebug </a:t>
            </a:r>
            <a:r>
              <a:rPr lang="en-US" sz="3500" dirty="0" err="1" smtClean="0"/>
              <a:t>là</a:t>
            </a:r>
            <a:r>
              <a:rPr lang="en-US" sz="3500" dirty="0" smtClean="0"/>
              <a:t> </a:t>
            </a:r>
            <a:r>
              <a:rPr lang="en-US" sz="3500" dirty="0" err="1" smtClean="0"/>
              <a:t>gì</a:t>
            </a:r>
            <a:r>
              <a:rPr lang="en-US" sz="3500" dirty="0" smtClean="0"/>
              <a:t>?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3500" dirty="0" err="1" smtClean="0"/>
              <a:t>Tác</a:t>
            </a:r>
            <a:r>
              <a:rPr lang="en-US" sz="3500" dirty="0" smtClean="0"/>
              <a:t> </a:t>
            </a:r>
            <a:r>
              <a:rPr lang="en-US" sz="3500" dirty="0" err="1" smtClean="0"/>
              <a:t>dụng</a:t>
            </a:r>
            <a:r>
              <a:rPr lang="en-US" sz="3500" dirty="0" smtClean="0"/>
              <a:t> </a:t>
            </a:r>
            <a:r>
              <a:rPr lang="en-US" sz="3500" dirty="0" err="1" smtClean="0"/>
              <a:t>của</a:t>
            </a:r>
            <a:r>
              <a:rPr lang="en-US" sz="3500" dirty="0" smtClean="0"/>
              <a:t> debug</a:t>
            </a:r>
            <a:endParaRPr lang="en-US" sz="3500" dirty="0" smtClean="0"/>
          </a:p>
          <a:p>
            <a:pPr marL="457200" indent="-457200" algn="l">
              <a:buFont typeface="+mj-lt"/>
              <a:buAutoNum type="arabicPeriod"/>
            </a:pPr>
            <a:r>
              <a:rPr lang="en-US" sz="3500" dirty="0" smtClean="0"/>
              <a:t>Quy </a:t>
            </a:r>
            <a:r>
              <a:rPr lang="en-US" sz="3500" dirty="0" err="1" smtClean="0"/>
              <a:t>trình</a:t>
            </a:r>
            <a:r>
              <a:rPr lang="en-US" sz="3500" dirty="0" smtClean="0"/>
              <a:t> </a:t>
            </a:r>
            <a:r>
              <a:rPr lang="en-US" sz="3500" dirty="0" smtClean="0"/>
              <a:t>debug</a:t>
            </a:r>
          </a:p>
        </p:txBody>
      </p:sp>
    </p:spTree>
    <p:extLst>
      <p:ext uri="{BB962C8B-B14F-4D97-AF65-F5344CB8AC3E}">
        <p14:creationId xmlns:p14="http://schemas.microsoft.com/office/powerpoint/2010/main" val="385872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</a:rPr>
              <a:t>I</a:t>
            </a:r>
            <a:r>
              <a:rPr lang="en-US" sz="4800" b="1" dirty="0" smtClean="0">
                <a:solidFill>
                  <a:srgbClr val="FF0000"/>
                </a:solidFill>
              </a:rPr>
              <a:t>. Debug </a:t>
            </a:r>
            <a:r>
              <a:rPr lang="en-US" sz="4800" b="1" dirty="0" err="1" smtClean="0">
                <a:solidFill>
                  <a:srgbClr val="FF0000"/>
                </a:solidFill>
              </a:rPr>
              <a:t>là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</a:rPr>
              <a:t>gì</a:t>
            </a:r>
            <a:r>
              <a:rPr lang="en-US" sz="4800" b="1" dirty="0" smtClean="0">
                <a:solidFill>
                  <a:srgbClr val="FF0000"/>
                </a:solidFill>
              </a:rPr>
              <a:t>? 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9" y="1319348"/>
            <a:ext cx="11782697" cy="5538652"/>
          </a:xfrm>
        </p:spPr>
        <p:txBody>
          <a:bodyPr>
            <a:normAutofit/>
          </a:bodyPr>
          <a:lstStyle/>
          <a:p>
            <a:r>
              <a:rPr lang="en-US" sz="3600" dirty="0" err="1" smtClean="0">
                <a:latin typeface="+mj-lt"/>
              </a:rPr>
              <a:t>Là</a:t>
            </a:r>
            <a:r>
              <a:rPr lang="en-US" sz="3600" dirty="0" smtClean="0">
                <a:latin typeface="+mj-lt"/>
              </a:rPr>
              <a:t> </a:t>
            </a:r>
            <a:r>
              <a:rPr lang="en-US" sz="3600" dirty="0" err="1" smtClean="0">
                <a:latin typeface="+mj-lt"/>
              </a:rPr>
              <a:t>Quá</a:t>
            </a:r>
            <a:r>
              <a:rPr lang="en-US" sz="3600" dirty="0" smtClean="0">
                <a:latin typeface="+mj-lt"/>
              </a:rPr>
              <a:t> </a:t>
            </a:r>
            <a:r>
              <a:rPr lang="en-US" sz="3600" dirty="0" err="1" smtClean="0">
                <a:latin typeface="+mj-lt"/>
              </a:rPr>
              <a:t>trình</a:t>
            </a:r>
            <a:r>
              <a:rPr lang="en-US" sz="3600" dirty="0" smtClean="0">
                <a:latin typeface="+mj-lt"/>
              </a:rPr>
              <a:t> </a:t>
            </a:r>
            <a:r>
              <a:rPr lang="en-US" sz="3600" dirty="0" err="1" smtClean="0">
                <a:latin typeface="+mj-lt"/>
              </a:rPr>
              <a:t>xác</a:t>
            </a:r>
            <a:r>
              <a:rPr lang="en-US" sz="3600" dirty="0" smtClean="0">
                <a:latin typeface="+mj-lt"/>
              </a:rPr>
              <a:t> </a:t>
            </a:r>
            <a:r>
              <a:rPr lang="en-US" sz="3600" dirty="0" err="1" smtClean="0">
                <a:latin typeface="+mj-lt"/>
              </a:rPr>
              <a:t>định</a:t>
            </a:r>
            <a:r>
              <a:rPr lang="en-US" sz="3600" dirty="0" smtClean="0">
                <a:latin typeface="+mj-lt"/>
              </a:rPr>
              <a:t>, </a:t>
            </a:r>
            <a:r>
              <a:rPr lang="en-US" sz="3600" dirty="0" err="1" smtClean="0">
                <a:latin typeface="+mj-lt"/>
              </a:rPr>
              <a:t>phân</a:t>
            </a:r>
            <a:r>
              <a:rPr lang="en-US" sz="3600" dirty="0" smtClean="0">
                <a:latin typeface="+mj-lt"/>
              </a:rPr>
              <a:t> </a:t>
            </a:r>
            <a:r>
              <a:rPr lang="en-US" sz="3600" dirty="0" err="1" smtClean="0">
                <a:latin typeface="+mj-lt"/>
              </a:rPr>
              <a:t>tích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 smtClean="0">
                <a:latin typeface="+mj-lt"/>
              </a:rPr>
              <a:t>và</a:t>
            </a:r>
            <a:r>
              <a:rPr lang="en-US" sz="3600" dirty="0" smtClean="0">
                <a:latin typeface="+mj-lt"/>
              </a:rPr>
              <a:t> fix </a:t>
            </a:r>
            <a:r>
              <a:rPr lang="en-US" sz="3600" dirty="0" smtClean="0">
                <a:latin typeface="+mj-lt"/>
              </a:rPr>
              <a:t>bugs</a:t>
            </a:r>
          </a:p>
          <a:p>
            <a:pPr lvl="0"/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Đây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là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1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kỹ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năng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cần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phải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có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cho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mọi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lập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trình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viên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.</a:t>
            </a:r>
          </a:p>
          <a:p>
            <a:pPr lvl="0"/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Là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một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phần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không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thể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thiếu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trong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phát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triển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phần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mềm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.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Nó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bắt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đầu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từ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khi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viết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code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và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xuyên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suốt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cho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đến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khi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tạo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nên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1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sản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phẩm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hoàn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400" dirty="0" err="1">
                <a:solidFill>
                  <a:prstClr val="black"/>
                </a:solidFill>
                <a:latin typeface="Calibri Light" panose="020F0302020204030204"/>
              </a:rPr>
              <a:t>chỉnh</a:t>
            </a:r>
            <a:r>
              <a:rPr lang="en-US" sz="3400" dirty="0">
                <a:solidFill>
                  <a:prstClr val="black"/>
                </a:solidFill>
                <a:latin typeface="Calibri Light" panose="020F0302020204030204"/>
              </a:rPr>
              <a:t>.</a:t>
            </a:r>
          </a:p>
          <a:p>
            <a:endParaRPr lang="en-US" sz="3600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2101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281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</a:rPr>
              <a:t>I. Debug </a:t>
            </a:r>
            <a:r>
              <a:rPr lang="en-US" sz="4800" b="1" dirty="0" err="1" smtClean="0">
                <a:solidFill>
                  <a:srgbClr val="FF0000"/>
                </a:solidFill>
              </a:rPr>
              <a:t>là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</a:rPr>
              <a:t>gì</a:t>
            </a:r>
            <a:r>
              <a:rPr lang="en-US" sz="4800" b="1" dirty="0" smtClean="0">
                <a:solidFill>
                  <a:srgbClr val="FF0000"/>
                </a:solidFill>
              </a:rPr>
              <a:t>?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4926"/>
            <a:ext cx="10515600" cy="4322037"/>
          </a:xfrm>
        </p:spPr>
        <p:txBody>
          <a:bodyPr>
            <a:normAutofit/>
          </a:bodyPr>
          <a:lstStyle/>
          <a:p>
            <a:pPr lvl="0"/>
            <a:r>
              <a:rPr lang="en-US" sz="3600" dirty="0" err="1" smtClean="0">
                <a:solidFill>
                  <a:prstClr val="black"/>
                </a:solidFill>
                <a:latin typeface="Calibri Light" panose="020F0302020204030204"/>
              </a:rPr>
              <a:t>Bước</a:t>
            </a:r>
            <a:r>
              <a:rPr lang="en-US" sz="3600" dirty="0" smtClean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cuối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cùng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là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phải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kiểm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tra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lại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hoạt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động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của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chương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trình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đã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chính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xác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chưa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. </a:t>
            </a:r>
          </a:p>
          <a:p>
            <a:pPr lvl="0"/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Bugs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có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thể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là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các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bug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phát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hiện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ra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được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hoặc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những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bug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tiềm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ẩn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.</a:t>
            </a:r>
          </a:p>
          <a:p>
            <a:pPr lvl="0"/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Debugging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có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thể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dựa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vào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log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hoặc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bằng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các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công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cụ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gỡ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lỗi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.</a:t>
            </a:r>
          </a:p>
          <a:p>
            <a:r>
              <a:rPr lang="en-US" sz="4000" dirty="0" smtClean="0">
                <a:latin typeface="+mj-lt"/>
              </a:rPr>
              <a:t> </a:t>
            </a:r>
            <a:endParaRPr 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39084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989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II. </a:t>
            </a:r>
            <a:r>
              <a:rPr lang="en-US" b="1" dirty="0" err="1" smtClean="0">
                <a:solidFill>
                  <a:srgbClr val="FF0000"/>
                </a:solidFill>
              </a:rPr>
              <a:t>Tác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dụng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của</a:t>
            </a:r>
            <a:r>
              <a:rPr lang="en-US" b="1" dirty="0" smtClean="0">
                <a:solidFill>
                  <a:srgbClr val="FF0000"/>
                </a:solidFill>
              </a:rPr>
              <a:t> Debug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2114"/>
            <a:ext cx="10515600" cy="5140643"/>
          </a:xfrm>
        </p:spPr>
        <p:txBody>
          <a:bodyPr>
            <a:noAutofit/>
          </a:bodyPr>
          <a:lstStyle/>
          <a:p>
            <a:pPr lvl="1">
              <a:buFont typeface="Wingdings" panose="05000000000000000000" pitchFamily="2" charset="2"/>
              <a:buChar char="ü"/>
            </a:pPr>
            <a:r>
              <a:rPr lang="en-US" sz="2800" dirty="0" err="1" smtClean="0">
                <a:latin typeface="+mj-lt"/>
              </a:rPr>
              <a:t>Xác</a:t>
            </a:r>
            <a:r>
              <a:rPr lang="en-US" sz="2800" dirty="0" smtClean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định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được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vị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trí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gây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ra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lỗi</a:t>
            </a:r>
            <a:endParaRPr lang="en-US" sz="2800" dirty="0">
              <a:latin typeface="+mj-lt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 err="1">
                <a:latin typeface="+mj-lt"/>
              </a:rPr>
              <a:t>Giúp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xác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định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được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nguyên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nhân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chính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xác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gây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ra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lỗi</a:t>
            </a:r>
            <a:endParaRPr lang="en-US" sz="2800" dirty="0">
              <a:latin typeface="+mj-lt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 err="1">
                <a:latin typeface="+mj-lt"/>
              </a:rPr>
              <a:t>Giúp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lập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trình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viên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có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thể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nhanh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chóng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vào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được</a:t>
            </a:r>
            <a:r>
              <a:rPr lang="en-US" sz="2800" dirty="0">
                <a:latin typeface="+mj-lt"/>
              </a:rPr>
              <a:t> 1 flow </a:t>
            </a:r>
            <a:r>
              <a:rPr lang="en-US" sz="2800" dirty="0" err="1">
                <a:latin typeface="+mj-lt"/>
              </a:rPr>
              <a:t>mong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muốn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mà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không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cần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phải</a:t>
            </a:r>
            <a:r>
              <a:rPr lang="en-US" sz="2800" dirty="0">
                <a:latin typeface="+mj-lt"/>
              </a:rPr>
              <a:t> can </a:t>
            </a:r>
            <a:r>
              <a:rPr lang="en-US" sz="2800" dirty="0" err="1">
                <a:latin typeface="+mj-lt"/>
              </a:rPr>
              <a:t>thiệp</a:t>
            </a:r>
            <a:r>
              <a:rPr lang="en-US" sz="2800" dirty="0">
                <a:latin typeface="+mj-lt"/>
              </a:rPr>
              <a:t> DB hay </a:t>
            </a:r>
            <a:r>
              <a:rPr lang="en-US" sz="2800" dirty="0" err="1">
                <a:latin typeface="+mj-lt"/>
              </a:rPr>
              <a:t>sửa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config</a:t>
            </a:r>
            <a:endParaRPr lang="en-US" sz="2800" dirty="0">
              <a:latin typeface="+mj-lt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 err="1">
                <a:latin typeface="+mj-lt"/>
              </a:rPr>
              <a:t>Giúp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lập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trình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viên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có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thể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nhìn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thấy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được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giá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trị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các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biến</a:t>
            </a:r>
            <a:r>
              <a:rPr lang="en-US" sz="2800" dirty="0">
                <a:latin typeface="+mj-lt"/>
              </a:rPr>
              <a:t>, </a:t>
            </a:r>
            <a:r>
              <a:rPr lang="en-US" sz="2800" dirty="0" err="1">
                <a:latin typeface="+mj-lt"/>
              </a:rPr>
              <a:t>tham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số</a:t>
            </a:r>
            <a:r>
              <a:rPr lang="en-US" sz="2800" dirty="0">
                <a:latin typeface="+mj-lt"/>
              </a:rPr>
              <a:t>,…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 err="1">
                <a:latin typeface="+mj-lt"/>
              </a:rPr>
              <a:t>Giúp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lập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trình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viên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hiểu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được</a:t>
            </a:r>
            <a:r>
              <a:rPr lang="en-US" sz="2800" dirty="0">
                <a:latin typeface="+mj-lt"/>
              </a:rPr>
              <a:t> flow </a:t>
            </a:r>
            <a:r>
              <a:rPr lang="en-US" sz="2800" dirty="0" err="1">
                <a:latin typeface="+mj-lt"/>
              </a:rPr>
              <a:t>của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chương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trình</a:t>
            </a:r>
            <a:r>
              <a:rPr lang="en-US" sz="2800" dirty="0">
                <a:latin typeface="+mj-lt"/>
              </a:rPr>
              <a:t>, </a:t>
            </a:r>
            <a:r>
              <a:rPr lang="en-US" sz="2800" dirty="0" err="1">
                <a:latin typeface="+mj-lt"/>
              </a:rPr>
              <a:t>hiểu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hệ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thống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rõ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hơn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và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từ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đó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có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thể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phát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hiện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được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các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điểm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thay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đổi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của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chương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trình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gần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đây</a:t>
            </a:r>
            <a:r>
              <a:rPr lang="en-US" sz="2800" dirty="0">
                <a:latin typeface="+mj-lt"/>
              </a:rPr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 err="1">
                <a:latin typeface="+mj-lt"/>
              </a:rPr>
              <a:t>Giúp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lập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trình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viên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cải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thiện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chất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lượng</a:t>
            </a:r>
            <a:r>
              <a:rPr lang="en-US" sz="2800" dirty="0">
                <a:latin typeface="+mj-lt"/>
              </a:rPr>
              <a:t> code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 err="1">
                <a:latin typeface="+mj-lt"/>
              </a:rPr>
              <a:t>Giúp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chương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trình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hoạt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động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đúng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theo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thông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số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kỹ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thuật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yêu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 smtClean="0">
                <a:latin typeface="+mj-lt"/>
              </a:rPr>
              <a:t>cầu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5274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326" y="347709"/>
            <a:ext cx="10515600" cy="618944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III. </a:t>
            </a:r>
            <a:r>
              <a:rPr lang="en-US" b="1" dirty="0" err="1" smtClean="0">
                <a:solidFill>
                  <a:srgbClr val="FF0000"/>
                </a:solidFill>
              </a:rPr>
              <a:t>Quy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trình</a:t>
            </a:r>
            <a:r>
              <a:rPr lang="en-US" b="1" dirty="0" smtClean="0">
                <a:solidFill>
                  <a:srgbClr val="FF0000"/>
                </a:solidFill>
              </a:rPr>
              <a:t> debug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0608" y="2154949"/>
            <a:ext cx="5208865" cy="233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00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III.Quy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trình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debug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823" y="1367246"/>
            <a:ext cx="10515600" cy="51232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>
                <a:solidFill>
                  <a:srgbClr val="0070C0"/>
                </a:solidFill>
              </a:rPr>
              <a:t>B1: </a:t>
            </a:r>
            <a:r>
              <a:rPr lang="en-US" sz="4000" b="1" dirty="0" err="1" smtClean="0">
                <a:solidFill>
                  <a:srgbClr val="0070C0"/>
                </a:solidFill>
              </a:rPr>
              <a:t>Xác</a:t>
            </a:r>
            <a:r>
              <a:rPr lang="en-US" sz="4000" b="1" dirty="0" smtClean="0">
                <a:solidFill>
                  <a:srgbClr val="0070C0"/>
                </a:solidFill>
              </a:rPr>
              <a:t> </a:t>
            </a:r>
            <a:r>
              <a:rPr lang="en-US" sz="4000" b="1" dirty="0" err="1">
                <a:solidFill>
                  <a:srgbClr val="0070C0"/>
                </a:solidFill>
              </a:rPr>
              <a:t>nhận</a:t>
            </a:r>
            <a:r>
              <a:rPr lang="en-US" sz="4000" b="1" dirty="0">
                <a:solidFill>
                  <a:srgbClr val="0070C0"/>
                </a:solidFill>
              </a:rPr>
              <a:t> bug </a:t>
            </a:r>
            <a:endParaRPr lang="en-US" sz="4000" b="1" dirty="0" smtClean="0">
              <a:solidFill>
                <a:srgbClr val="0070C0"/>
              </a:solidFill>
            </a:endParaRPr>
          </a:p>
          <a:p>
            <a:r>
              <a:rPr lang="en-US" sz="4000" dirty="0" smtClean="0">
                <a:latin typeface="+mj-lt"/>
              </a:rPr>
              <a:t>Sau </a:t>
            </a:r>
            <a:r>
              <a:rPr lang="en-US" sz="4000" dirty="0" err="1">
                <a:latin typeface="+mj-lt"/>
              </a:rPr>
              <a:t>khi</a:t>
            </a:r>
            <a:r>
              <a:rPr lang="en-US" sz="4000" dirty="0">
                <a:latin typeface="+mj-lt"/>
              </a:rPr>
              <a:t> bug </a:t>
            </a:r>
            <a:r>
              <a:rPr lang="en-US" sz="4000" dirty="0" err="1">
                <a:latin typeface="+mj-lt"/>
              </a:rPr>
              <a:t>được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phát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hiện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và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được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báo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cáo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lên</a:t>
            </a:r>
            <a:r>
              <a:rPr lang="en-US" sz="4000" dirty="0">
                <a:latin typeface="+mj-lt"/>
              </a:rPr>
              <a:t>, </a:t>
            </a:r>
            <a:r>
              <a:rPr lang="en-US" sz="4000" dirty="0" err="1">
                <a:latin typeface="+mj-lt"/>
              </a:rPr>
              <a:t>đây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là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bước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xác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nhận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nội</a:t>
            </a:r>
            <a:r>
              <a:rPr lang="en-US" sz="4000" dirty="0">
                <a:latin typeface="+mj-lt"/>
              </a:rPr>
              <a:t> dung bug </a:t>
            </a:r>
            <a:r>
              <a:rPr lang="en-US" sz="4000" dirty="0" err="1">
                <a:latin typeface="+mj-lt"/>
              </a:rPr>
              <a:t>là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gì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và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tại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sao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nó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lại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xuất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hiện</a:t>
            </a:r>
            <a:r>
              <a:rPr lang="en-US" sz="4000" dirty="0">
                <a:latin typeface="+mj-lt"/>
              </a:rPr>
              <a:t>. </a:t>
            </a:r>
            <a:r>
              <a:rPr lang="en-US" sz="4000" dirty="0" err="1">
                <a:latin typeface="+mj-lt"/>
              </a:rPr>
              <a:t>Xác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định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được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nguyên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nhân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gốc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rễ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của</a:t>
            </a:r>
            <a:r>
              <a:rPr lang="en-US" sz="4000" dirty="0">
                <a:latin typeface="+mj-lt"/>
              </a:rPr>
              <a:t> bugs </a:t>
            </a:r>
            <a:r>
              <a:rPr lang="en-US" sz="4000" dirty="0" err="1">
                <a:latin typeface="+mj-lt"/>
              </a:rPr>
              <a:t>và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từ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đó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xác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định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được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cách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thức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để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giải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quyết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được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nó</a:t>
            </a:r>
            <a:r>
              <a:rPr lang="en-US" sz="4000" dirty="0">
                <a:latin typeface="+mj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2298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I.3.Quy </a:t>
            </a:r>
            <a:r>
              <a:rPr lang="en-US" b="1" dirty="0" err="1">
                <a:solidFill>
                  <a:srgbClr val="FF0000"/>
                </a:solidFill>
              </a:rPr>
              <a:t>trình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debug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4994"/>
            <a:ext cx="10515600" cy="48619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0070C0"/>
                </a:solidFill>
              </a:rPr>
              <a:t>B1. </a:t>
            </a:r>
            <a:r>
              <a:rPr lang="en-US" sz="3600" b="1" dirty="0" err="1" smtClean="0">
                <a:solidFill>
                  <a:srgbClr val="0070C0"/>
                </a:solidFill>
              </a:rPr>
              <a:t>Xác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nhận</a:t>
            </a:r>
            <a:r>
              <a:rPr lang="en-US" sz="3600" b="1" dirty="0">
                <a:solidFill>
                  <a:srgbClr val="0070C0"/>
                </a:solidFill>
              </a:rPr>
              <a:t> bug </a:t>
            </a:r>
            <a:endParaRPr lang="en-US" sz="3600" b="1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3600" dirty="0" err="1" smtClean="0"/>
              <a:t>Một</a:t>
            </a:r>
            <a:r>
              <a:rPr lang="en-US" sz="3600" dirty="0" smtClean="0"/>
              <a:t> </a:t>
            </a:r>
            <a:r>
              <a:rPr lang="en-US" sz="3600" dirty="0" err="1" smtClean="0"/>
              <a:t>số</a:t>
            </a:r>
            <a:r>
              <a:rPr lang="en-US" sz="3600" dirty="0" smtClean="0"/>
              <a:t> </a:t>
            </a:r>
            <a:r>
              <a:rPr lang="en-US" sz="3600" dirty="0" err="1" smtClean="0"/>
              <a:t>kỹ</a:t>
            </a:r>
            <a:r>
              <a:rPr lang="en-US" sz="3600" dirty="0" smtClean="0"/>
              <a:t> </a:t>
            </a:r>
            <a:r>
              <a:rPr lang="en-US" sz="3600" dirty="0" err="1" smtClean="0"/>
              <a:t>thuật</a:t>
            </a:r>
            <a:r>
              <a:rPr lang="en-US" sz="3600" dirty="0" smtClean="0"/>
              <a:t>:</a:t>
            </a:r>
            <a:endParaRPr lang="en-US" sz="3600" b="1" dirty="0" smtClean="0">
              <a:solidFill>
                <a:srgbClr val="0070C0"/>
              </a:solidFill>
            </a:endParaRPr>
          </a:p>
          <a:p>
            <a:r>
              <a:rPr lang="vi-VN" sz="36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Hỏi thông tin từ người phát hiện ra bug này, đó có thể là người dùng ứng dụng hoặc tester.</a:t>
            </a:r>
            <a:endParaRPr lang="en-US" sz="3600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vi-VN" sz="36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Evidence</a:t>
            </a:r>
            <a:r>
              <a:rPr lang="vi-VN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: Hình ảnh chụp lại lúc xảy ra lỗi làm tăng độ chính xác cho những gì đã xảy ra. </a:t>
            </a:r>
            <a:endParaRPr lang="en-US" sz="3600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vi-VN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Thông tin log: Với 1 hình ảnh chụp được mỗi câu [System Error. Please contact with admin] thì lập trình viên cũng “đứng hình”. </a:t>
            </a:r>
            <a:endParaRPr lang="en-US" sz="3600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3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Các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tài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liệu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liên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quan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như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tài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liệu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thiết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kế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kiến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trúc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3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thiết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kế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cơ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bản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, chi </a:t>
            </a:r>
            <a:r>
              <a:rPr lang="en-US" sz="36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tiết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3600" dirty="0">
                <a:latin typeface="Calibri Light" panose="020F0302020204030204" pitchFamily="34" charset="0"/>
                <a:cs typeface="Calibri Light" panose="020F0302020204030204" pitchFamily="34" charset="0"/>
              </a:rPr>
              <a:t>…</a:t>
            </a:r>
            <a:endParaRPr lang="en-US"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3600" dirty="0" smtClean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191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9662"/>
            <a:ext cx="10515600" cy="1036955"/>
          </a:xfrm>
        </p:spPr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I</a:t>
            </a:r>
            <a:r>
              <a:rPr lang="en-US" b="1" dirty="0" err="1" smtClean="0">
                <a:solidFill>
                  <a:srgbClr val="FF0000"/>
                </a:solidFill>
              </a:rPr>
              <a:t>II</a:t>
            </a:r>
            <a:r>
              <a:rPr lang="en-US" b="1" dirty="0" err="1" smtClean="0">
                <a:solidFill>
                  <a:srgbClr val="FF0000"/>
                </a:solidFill>
              </a:rPr>
              <a:t>.Quy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trình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debug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2446"/>
            <a:ext cx="10515600" cy="49229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 smtClean="0">
                <a:solidFill>
                  <a:srgbClr val="0070C0"/>
                </a:solidFill>
              </a:rPr>
              <a:t>2. </a:t>
            </a:r>
            <a:r>
              <a:rPr lang="en-US" sz="3600" dirty="0" err="1" smtClean="0">
                <a:solidFill>
                  <a:srgbClr val="0070C0"/>
                </a:solidFill>
              </a:rPr>
              <a:t>Cô</a:t>
            </a:r>
            <a:r>
              <a:rPr lang="en-US" sz="3600" dirty="0" smtClean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lập</a:t>
            </a:r>
            <a:r>
              <a:rPr lang="en-US" sz="3600" dirty="0">
                <a:solidFill>
                  <a:srgbClr val="0070C0"/>
                </a:solidFill>
              </a:rPr>
              <a:t> bug</a:t>
            </a:r>
          </a:p>
          <a:p>
            <a:r>
              <a:rPr lang="en-US" sz="3600" dirty="0" err="1" smtClean="0">
                <a:latin typeface="+mj-lt"/>
              </a:rPr>
              <a:t>Đó</a:t>
            </a:r>
            <a:r>
              <a:rPr lang="en-US" sz="3600" dirty="0" smtClean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là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bước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lập</a:t>
            </a:r>
            <a:r>
              <a:rPr lang="en-US" sz="3600" dirty="0">
                <a:latin typeface="+mj-lt"/>
              </a:rPr>
              <a:t> code </a:t>
            </a:r>
            <a:r>
              <a:rPr lang="en-US" sz="3600" dirty="0" err="1">
                <a:latin typeface="+mj-lt"/>
              </a:rPr>
              <a:t>có</a:t>
            </a:r>
            <a:r>
              <a:rPr lang="en-US" sz="3600" dirty="0">
                <a:latin typeface="+mj-lt"/>
              </a:rPr>
              <a:t> bug </a:t>
            </a:r>
            <a:r>
              <a:rPr lang="en-US" sz="3600" dirty="0" err="1">
                <a:latin typeface="+mj-lt"/>
              </a:rPr>
              <a:t>với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các</a:t>
            </a:r>
            <a:r>
              <a:rPr lang="en-US" sz="3600" dirty="0">
                <a:latin typeface="+mj-lt"/>
              </a:rPr>
              <a:t> code </a:t>
            </a:r>
            <a:r>
              <a:rPr lang="en-US" sz="3600" dirty="0" err="1">
                <a:latin typeface="+mj-lt"/>
              </a:rPr>
              <a:t>khác</a:t>
            </a:r>
            <a:r>
              <a:rPr lang="en-US" sz="3600" dirty="0">
                <a:latin typeface="+mj-lt"/>
              </a:rPr>
              <a:t>. </a:t>
            </a:r>
            <a:endParaRPr lang="en-US" sz="3600" dirty="0" smtClean="0">
              <a:latin typeface="+mj-lt"/>
            </a:endParaRPr>
          </a:p>
          <a:p>
            <a:r>
              <a:rPr lang="en-US" sz="3600" dirty="0" err="1" smtClean="0">
                <a:latin typeface="+mj-lt"/>
              </a:rPr>
              <a:t>Thực</a:t>
            </a:r>
            <a:r>
              <a:rPr lang="en-US" sz="3600" dirty="0" smtClean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chất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chỉ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là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việc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khoanh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vùng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đoạn</a:t>
            </a:r>
            <a:r>
              <a:rPr lang="en-US" sz="3600" dirty="0">
                <a:latin typeface="+mj-lt"/>
              </a:rPr>
              <a:t> code </a:t>
            </a:r>
            <a:r>
              <a:rPr lang="en-US" sz="3600" dirty="0" err="1">
                <a:latin typeface="+mj-lt"/>
              </a:rPr>
              <a:t>gây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ra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lỗi</a:t>
            </a:r>
            <a:r>
              <a:rPr lang="en-US" sz="3600" dirty="0">
                <a:latin typeface="+mj-lt"/>
              </a:rPr>
              <a:t>. </a:t>
            </a:r>
            <a:r>
              <a:rPr lang="en-US" sz="3600" dirty="0" err="1">
                <a:latin typeface="+mj-lt"/>
              </a:rPr>
              <a:t>Viết</a:t>
            </a:r>
            <a:r>
              <a:rPr lang="en-US" sz="3600" dirty="0">
                <a:latin typeface="+mj-lt"/>
              </a:rPr>
              <a:t> 1 Unit Test </a:t>
            </a:r>
            <a:r>
              <a:rPr lang="en-US" sz="3600" dirty="0" err="1">
                <a:latin typeface="+mj-lt"/>
              </a:rPr>
              <a:t>cho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đoạn</a:t>
            </a:r>
            <a:r>
              <a:rPr lang="en-US" sz="3600" dirty="0">
                <a:latin typeface="+mj-lt"/>
              </a:rPr>
              <a:t> code </a:t>
            </a:r>
            <a:r>
              <a:rPr lang="en-US" sz="3600" dirty="0" err="1">
                <a:latin typeface="+mj-lt"/>
              </a:rPr>
              <a:t>đó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và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sau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đó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tái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hiện</a:t>
            </a:r>
            <a:r>
              <a:rPr lang="en-US" sz="3600" dirty="0">
                <a:latin typeface="+mj-lt"/>
              </a:rPr>
              <a:t> bug </a:t>
            </a:r>
            <a:r>
              <a:rPr lang="en-US" sz="3600" dirty="0" err="1">
                <a:latin typeface="+mj-lt"/>
              </a:rPr>
              <a:t>bằng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việc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sử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dụng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hàm</a:t>
            </a:r>
            <a:r>
              <a:rPr lang="en-US" sz="3600" dirty="0">
                <a:latin typeface="+mj-lt"/>
              </a:rPr>
              <a:t> Unit test </a:t>
            </a:r>
            <a:r>
              <a:rPr lang="en-US" sz="3600" dirty="0" err="1">
                <a:latin typeface="+mj-lt"/>
              </a:rPr>
              <a:t>này</a:t>
            </a:r>
            <a:r>
              <a:rPr lang="en-US" sz="3600" dirty="0">
                <a:latin typeface="+mj-lt"/>
              </a:rPr>
              <a:t>.</a:t>
            </a:r>
          </a:p>
          <a:p>
            <a:r>
              <a:rPr lang="en-US" sz="3600" dirty="0" err="1">
                <a:latin typeface="+mj-lt"/>
              </a:rPr>
              <a:t>Lợi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ích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của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việc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lập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mang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 smtClean="0">
                <a:latin typeface="+mj-lt"/>
              </a:rPr>
              <a:t>lại</a:t>
            </a:r>
            <a:r>
              <a:rPr lang="en-US" sz="3600" dirty="0" smtClean="0">
                <a:latin typeface="+mj-lt"/>
              </a:rPr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200" dirty="0" err="1">
                <a:latin typeface="+mj-lt"/>
              </a:rPr>
              <a:t>Không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ảnh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hưởng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đến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các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đoạn</a:t>
            </a:r>
            <a:r>
              <a:rPr lang="en-US" sz="3200" dirty="0">
                <a:latin typeface="+mj-lt"/>
              </a:rPr>
              <a:t> code </a:t>
            </a:r>
            <a:r>
              <a:rPr lang="en-US" sz="3200" dirty="0" err="1">
                <a:latin typeface="+mj-lt"/>
              </a:rPr>
              <a:t>khác</a:t>
            </a:r>
            <a:endParaRPr lang="en-US" sz="3200" dirty="0">
              <a:latin typeface="+mj-lt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3200" dirty="0" err="1">
                <a:latin typeface="+mj-lt"/>
              </a:rPr>
              <a:t>Tiết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kiệm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thời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gian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kiểm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tra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và</a:t>
            </a:r>
            <a:r>
              <a:rPr lang="en-US" sz="3200" dirty="0">
                <a:latin typeface="+mj-lt"/>
              </a:rPr>
              <a:t> test </a:t>
            </a:r>
            <a:r>
              <a:rPr lang="en-US" sz="3200" dirty="0" err="1">
                <a:latin typeface="+mj-lt"/>
              </a:rPr>
              <a:t>lại</a:t>
            </a:r>
            <a:r>
              <a:rPr lang="en-US" sz="3200" dirty="0">
                <a:latin typeface="+mj-lt"/>
              </a:rPr>
              <a:t> bug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200" dirty="0" err="1">
                <a:latin typeface="+mj-lt"/>
              </a:rPr>
              <a:t>Dễ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dàng</a:t>
            </a:r>
            <a:r>
              <a:rPr lang="en-US" sz="3200" dirty="0">
                <a:latin typeface="+mj-lt"/>
              </a:rPr>
              <a:t> test </a:t>
            </a:r>
            <a:r>
              <a:rPr lang="en-US" sz="3200" dirty="0" err="1">
                <a:latin typeface="+mj-lt"/>
              </a:rPr>
              <a:t>các</a:t>
            </a:r>
            <a:r>
              <a:rPr lang="en-US" sz="3200" dirty="0">
                <a:latin typeface="+mj-lt"/>
              </a:rPr>
              <a:t> case </a:t>
            </a:r>
            <a:r>
              <a:rPr lang="en-US" sz="3200" dirty="0" err="1">
                <a:latin typeface="+mj-lt"/>
              </a:rPr>
              <a:t>khác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nhau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cho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đoạn</a:t>
            </a:r>
            <a:r>
              <a:rPr lang="en-US" sz="3200" dirty="0">
                <a:latin typeface="+mj-lt"/>
              </a:rPr>
              <a:t> code </a:t>
            </a:r>
            <a:r>
              <a:rPr lang="en-US" sz="3200" dirty="0" err="1">
                <a:latin typeface="+mj-lt"/>
              </a:rPr>
              <a:t>bị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 smtClean="0">
                <a:latin typeface="+mj-lt"/>
              </a:rPr>
              <a:t>lỗi</a:t>
            </a:r>
            <a:endParaRPr 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5122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I</a:t>
            </a:r>
            <a:r>
              <a:rPr lang="en-US" b="1" dirty="0" smtClean="0">
                <a:solidFill>
                  <a:srgbClr val="FF0000"/>
                </a:solidFill>
              </a:rPr>
              <a:t>II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Quy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trình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debug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1411" y="1454331"/>
            <a:ext cx="10515600" cy="48445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070C0"/>
                </a:solidFill>
              </a:rPr>
              <a:t>3. Fix </a:t>
            </a:r>
            <a:r>
              <a:rPr lang="en-US" sz="3200" b="1" dirty="0">
                <a:solidFill>
                  <a:srgbClr val="0070C0"/>
                </a:solidFill>
              </a:rPr>
              <a:t>bug</a:t>
            </a:r>
          </a:p>
          <a:p>
            <a:r>
              <a:rPr lang="en-US" sz="3200" dirty="0" err="1" smtClean="0">
                <a:latin typeface="+mj-lt"/>
              </a:rPr>
              <a:t>Là</a:t>
            </a:r>
            <a:r>
              <a:rPr lang="en-US" sz="3200" dirty="0" smtClean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bước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sửa</a:t>
            </a:r>
            <a:r>
              <a:rPr lang="en-US" sz="3200" dirty="0">
                <a:latin typeface="+mj-lt"/>
              </a:rPr>
              <a:t> code </a:t>
            </a:r>
            <a:r>
              <a:rPr lang="en-US" sz="3200" dirty="0" err="1">
                <a:latin typeface="+mj-lt"/>
              </a:rPr>
              <a:t>bị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lỗi</a:t>
            </a:r>
            <a:r>
              <a:rPr lang="en-US" sz="3200" dirty="0">
                <a:latin typeface="+mj-lt"/>
              </a:rPr>
              <a:t>. 2 </a:t>
            </a:r>
            <a:r>
              <a:rPr lang="en-US" sz="3200" dirty="0" err="1">
                <a:latin typeface="+mj-lt"/>
              </a:rPr>
              <a:t>bước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trên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nếu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làm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tốt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thì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bước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này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khá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dễ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dàng</a:t>
            </a:r>
            <a:r>
              <a:rPr lang="en-US" sz="3200" dirty="0">
                <a:latin typeface="+mj-lt"/>
              </a:rPr>
              <a:t>.</a:t>
            </a:r>
          </a:p>
          <a:p>
            <a:r>
              <a:rPr lang="en-US" sz="3200" dirty="0" err="1">
                <a:latin typeface="+mj-lt"/>
              </a:rPr>
              <a:t>Có</a:t>
            </a:r>
            <a:r>
              <a:rPr lang="en-US" sz="3200" dirty="0">
                <a:latin typeface="+mj-lt"/>
              </a:rPr>
              <a:t> 1 </a:t>
            </a:r>
            <a:r>
              <a:rPr lang="en-US" sz="3200" dirty="0" err="1">
                <a:latin typeface="+mj-lt"/>
              </a:rPr>
              <a:t>số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gợi</a:t>
            </a:r>
            <a:r>
              <a:rPr lang="en-US" sz="3200" dirty="0">
                <a:latin typeface="+mj-lt"/>
              </a:rPr>
              <a:t> ý </a:t>
            </a:r>
            <a:r>
              <a:rPr lang="en-US" sz="3200" dirty="0" err="1">
                <a:latin typeface="+mj-lt"/>
              </a:rPr>
              <a:t>sau</a:t>
            </a:r>
            <a:r>
              <a:rPr lang="en-US" sz="3200" dirty="0">
                <a:latin typeface="+mj-lt"/>
              </a:rPr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200" dirty="0" err="1">
                <a:latin typeface="+mj-lt"/>
              </a:rPr>
              <a:t>Hiểu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rõ</a:t>
            </a:r>
            <a:r>
              <a:rPr lang="en-US" sz="3200" dirty="0">
                <a:latin typeface="+mj-lt"/>
              </a:rPr>
              <a:t> code </a:t>
            </a:r>
            <a:r>
              <a:rPr lang="en-US" sz="3200" dirty="0" err="1">
                <a:latin typeface="+mj-lt"/>
              </a:rPr>
              <a:t>và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thư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viện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được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dùng</a:t>
            </a:r>
            <a:endParaRPr lang="en-US" sz="3200" dirty="0">
              <a:latin typeface="+mj-lt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3200" dirty="0" err="1">
                <a:latin typeface="+mj-lt"/>
              </a:rPr>
              <a:t>Đọc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tài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liệu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về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các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hàm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được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sử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dụng</a:t>
            </a:r>
            <a:endParaRPr lang="en-US" sz="3200" dirty="0">
              <a:latin typeface="+mj-lt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3200" dirty="0" err="1">
                <a:latin typeface="+mj-lt"/>
              </a:rPr>
              <a:t>Tìm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kiếm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câu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trả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lời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trên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 smtClean="0">
                <a:latin typeface="+mj-lt"/>
              </a:rPr>
              <a:t>mạng</a:t>
            </a:r>
            <a:r>
              <a:rPr lang="en-US" sz="3200" dirty="0" smtClean="0">
                <a:latin typeface="+mj-lt"/>
              </a:rPr>
              <a:t> </a:t>
            </a:r>
            <a:endParaRPr lang="en-US" sz="3200" dirty="0">
              <a:latin typeface="+mj-lt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3200" dirty="0" err="1">
                <a:latin typeface="+mj-lt"/>
              </a:rPr>
              <a:t>Hãy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viết</a:t>
            </a:r>
            <a:r>
              <a:rPr lang="en-US" sz="3200" dirty="0">
                <a:latin typeface="+mj-lt"/>
              </a:rPr>
              <a:t> Unit test </a:t>
            </a:r>
            <a:r>
              <a:rPr lang="en-US" sz="3200" dirty="0" err="1">
                <a:latin typeface="+mj-lt"/>
              </a:rPr>
              <a:t>hoặc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kiểm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chứng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lại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các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câu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lệnh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đáng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ngờ</a:t>
            </a:r>
            <a:endParaRPr lang="en-US" sz="3200" dirty="0">
              <a:latin typeface="+mj-lt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3200" dirty="0" err="1">
                <a:latin typeface="+mj-lt"/>
              </a:rPr>
              <a:t>Bật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chế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 smtClean="0">
                <a:latin typeface="+mj-lt"/>
              </a:rPr>
              <a:t>độ</a:t>
            </a:r>
            <a:r>
              <a:rPr lang="en-US" sz="3200" dirty="0" smtClean="0">
                <a:latin typeface="+mj-lt"/>
              </a:rPr>
              <a:t> </a:t>
            </a:r>
            <a:r>
              <a:rPr lang="en-US" sz="3200" dirty="0">
                <a:latin typeface="+mj-lt"/>
              </a:rPr>
              <a:t>debug </a:t>
            </a:r>
            <a:r>
              <a:rPr lang="en-US" sz="3200" dirty="0" err="1">
                <a:latin typeface="+mj-lt"/>
              </a:rPr>
              <a:t>và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sử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dụng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các</a:t>
            </a:r>
            <a:r>
              <a:rPr lang="en-US" sz="3200" dirty="0">
                <a:latin typeface="+mj-lt"/>
              </a:rPr>
              <a:t> tool debug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200" dirty="0" err="1">
                <a:latin typeface="+mj-lt"/>
              </a:rPr>
              <a:t>Cố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gắng</a:t>
            </a:r>
            <a:r>
              <a:rPr lang="en-US" sz="3200" dirty="0">
                <a:latin typeface="+mj-lt"/>
              </a:rPr>
              <a:t> refactor </a:t>
            </a:r>
            <a:r>
              <a:rPr lang="en-US" sz="3200" dirty="0" err="1">
                <a:latin typeface="+mj-lt"/>
              </a:rPr>
              <a:t>lại</a:t>
            </a:r>
            <a:r>
              <a:rPr lang="en-US" sz="3200" dirty="0">
                <a:latin typeface="+mj-lt"/>
              </a:rPr>
              <a:t> code </a:t>
            </a:r>
            <a:r>
              <a:rPr lang="en-US" sz="3200" dirty="0" err="1">
                <a:latin typeface="+mj-lt"/>
              </a:rPr>
              <a:t>hoặc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xem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lại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kiến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trúc</a:t>
            </a:r>
            <a:r>
              <a:rPr lang="en-US" sz="3200" dirty="0">
                <a:latin typeface="+mj-lt"/>
              </a:rPr>
              <a:t> (</a:t>
            </a:r>
            <a:r>
              <a:rPr lang="en-US" sz="3200" dirty="0" err="1">
                <a:latin typeface="+mj-lt"/>
              </a:rPr>
              <a:t>nếu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cần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thiết</a:t>
            </a:r>
            <a:r>
              <a:rPr lang="en-US" sz="3200" dirty="0" smtClean="0">
                <a:latin typeface="+mj-lt"/>
              </a:rPr>
              <a:t>)</a:t>
            </a:r>
            <a:endParaRPr 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0207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28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I.3.Quy </a:t>
            </a:r>
            <a:r>
              <a:rPr lang="en-US" dirty="0" err="1">
                <a:solidFill>
                  <a:srgbClr val="FF0000"/>
                </a:solidFill>
              </a:rPr>
              <a:t>trình</a:t>
            </a:r>
            <a:r>
              <a:rPr lang="en-US" dirty="0">
                <a:solidFill>
                  <a:srgbClr val="FF0000"/>
                </a:solidFill>
              </a:rPr>
              <a:t> debug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3406"/>
            <a:ext cx="10515600" cy="5053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>
                <a:solidFill>
                  <a:srgbClr val="0070C0"/>
                </a:solidFill>
              </a:rPr>
              <a:t>4. Review</a:t>
            </a:r>
            <a:endParaRPr lang="en-US" sz="3600" dirty="0">
              <a:solidFill>
                <a:srgbClr val="0070C0"/>
              </a:solidFill>
            </a:endParaRPr>
          </a:p>
          <a:p>
            <a:r>
              <a:rPr lang="en-US" sz="3600" dirty="0" err="1" smtClean="0">
                <a:latin typeface="+mj-lt"/>
              </a:rPr>
              <a:t>Nó</a:t>
            </a:r>
            <a:r>
              <a:rPr lang="en-US" sz="3600" dirty="0" smtClean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là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bước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cuối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cùng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nhưng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cũng</a:t>
            </a:r>
            <a:r>
              <a:rPr lang="en-US" sz="3600" dirty="0">
                <a:latin typeface="+mj-lt"/>
              </a:rPr>
              <a:t> hay </a:t>
            </a:r>
            <a:r>
              <a:rPr lang="en-US" sz="3600" dirty="0" err="1">
                <a:latin typeface="+mj-lt"/>
              </a:rPr>
              <a:t>bị</a:t>
            </a:r>
            <a:r>
              <a:rPr lang="en-US" sz="3600" dirty="0">
                <a:latin typeface="+mj-lt"/>
              </a:rPr>
              <a:t> “</a:t>
            </a:r>
            <a:r>
              <a:rPr lang="en-US" sz="3600" dirty="0" err="1">
                <a:solidFill>
                  <a:srgbClr val="FF0000"/>
                </a:solidFill>
                <a:latin typeface="+mj-lt"/>
              </a:rPr>
              <a:t>lãng</a:t>
            </a:r>
            <a:r>
              <a:rPr lang="en-US" sz="36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+mj-lt"/>
              </a:rPr>
              <a:t>quên</a:t>
            </a:r>
            <a:r>
              <a:rPr lang="en-US" sz="3600" dirty="0">
                <a:latin typeface="+mj-lt"/>
              </a:rPr>
              <a:t>” </a:t>
            </a:r>
            <a:r>
              <a:rPr lang="en-US" sz="3600" dirty="0" err="1">
                <a:latin typeface="+mj-lt"/>
              </a:rPr>
              <a:t>bởi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các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lập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trình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viên</a:t>
            </a:r>
            <a:r>
              <a:rPr lang="en-US" sz="3600" dirty="0">
                <a:latin typeface="+mj-lt"/>
              </a:rPr>
              <a:t>. </a:t>
            </a:r>
            <a:r>
              <a:rPr lang="en-US" sz="3600" dirty="0" err="1">
                <a:latin typeface="+mj-lt"/>
              </a:rPr>
              <a:t>Đây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là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bước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để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đảm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bảo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rằng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đoạn</a:t>
            </a:r>
            <a:r>
              <a:rPr lang="en-US" sz="3600" dirty="0">
                <a:latin typeface="+mj-lt"/>
              </a:rPr>
              <a:t> code </a:t>
            </a:r>
            <a:r>
              <a:rPr lang="en-US" sz="3600" dirty="0" err="1">
                <a:latin typeface="+mj-lt"/>
              </a:rPr>
              <a:t>sửa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hoạt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động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đúng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và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ko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gây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ra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lỗi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mới</a:t>
            </a:r>
            <a:r>
              <a:rPr lang="en-US" sz="3600" dirty="0">
                <a:latin typeface="+mj-lt"/>
              </a:rPr>
              <a:t>, </a:t>
            </a:r>
            <a:r>
              <a:rPr lang="en-US" sz="3600" dirty="0" err="1">
                <a:latin typeface="+mj-lt"/>
              </a:rPr>
              <a:t>cũng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như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ko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ảnh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hưởng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đến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các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phần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khác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của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hệ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thống</a:t>
            </a:r>
            <a:r>
              <a:rPr lang="en-US" sz="3600" dirty="0">
                <a:latin typeface="+mj-lt"/>
              </a:rPr>
              <a:t>. </a:t>
            </a:r>
          </a:p>
          <a:p>
            <a:pPr marL="457200" lvl="1" indent="0">
              <a:buNone/>
            </a:pPr>
            <a:r>
              <a:rPr lang="en-US" sz="3200" dirty="0" err="1">
                <a:latin typeface="+mj-lt"/>
              </a:rPr>
              <a:t>Ví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dụ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dùng</a:t>
            </a:r>
            <a:r>
              <a:rPr lang="en-US" sz="3200" dirty="0">
                <a:latin typeface="+mj-lt"/>
              </a:rPr>
              <a:t> 1 </a:t>
            </a:r>
            <a:r>
              <a:rPr lang="en-US" sz="3200" dirty="0" err="1">
                <a:latin typeface="+mj-lt"/>
              </a:rPr>
              <a:t>thư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viện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chỉ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hỗ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trợ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trên</a:t>
            </a:r>
            <a:r>
              <a:rPr lang="en-US" sz="3200" dirty="0">
                <a:latin typeface="+mj-lt"/>
              </a:rPr>
              <a:t> iOS </a:t>
            </a:r>
            <a:r>
              <a:rPr lang="en-US" sz="3200" dirty="0" err="1">
                <a:latin typeface="+mj-lt"/>
              </a:rPr>
              <a:t>mới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nhất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nhưng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các</a:t>
            </a:r>
            <a:r>
              <a:rPr lang="en-US" sz="3200" dirty="0">
                <a:latin typeface="+mj-lt"/>
              </a:rPr>
              <a:t> version </a:t>
            </a:r>
            <a:r>
              <a:rPr lang="en-US" sz="3200" dirty="0" err="1">
                <a:latin typeface="+mj-lt"/>
              </a:rPr>
              <a:t>cũ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hơn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thì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 smtClean="0">
                <a:latin typeface="+mj-lt"/>
              </a:rPr>
              <a:t>không</a:t>
            </a:r>
            <a:r>
              <a:rPr lang="en-US" sz="3200" dirty="0" smtClean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hoạt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động</a:t>
            </a:r>
            <a:r>
              <a:rPr lang="en-US" sz="3200" dirty="0" smtClean="0">
                <a:latin typeface="+mj-lt"/>
              </a:rPr>
              <a:t>.</a:t>
            </a:r>
            <a:endParaRPr 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8810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29491" y="10386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solidFill>
                  <a:srgbClr val="FF0000"/>
                </a:solidFill>
              </a:rPr>
              <a:t>TỔNG KẾT</a:t>
            </a:r>
            <a:endParaRPr lang="en-US" sz="5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66652" y="1228952"/>
            <a:ext cx="10515600" cy="5541963"/>
          </a:xfrm>
        </p:spPr>
        <p:txBody>
          <a:bodyPr>
            <a:normAutofit fontScale="92500" lnSpcReduction="10000"/>
          </a:bodyPr>
          <a:lstStyle/>
          <a:p>
            <a:r>
              <a:rPr lang="en-US" sz="4000" dirty="0" smtClean="0">
                <a:latin typeface="+mj-lt"/>
              </a:rPr>
              <a:t>Debug </a:t>
            </a:r>
            <a:r>
              <a:rPr lang="en-US" sz="4000" dirty="0" err="1">
                <a:latin typeface="+mj-lt"/>
              </a:rPr>
              <a:t>là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công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đoạn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chắc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chắn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sẽ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có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với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mọi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lập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trình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viên</a:t>
            </a:r>
            <a:r>
              <a:rPr lang="en-US" sz="4000" dirty="0">
                <a:latin typeface="+mj-lt"/>
              </a:rPr>
              <a:t>. </a:t>
            </a:r>
            <a:r>
              <a:rPr lang="en-US" sz="4000" dirty="0" err="1">
                <a:latin typeface="+mj-lt"/>
              </a:rPr>
              <a:t>Công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đoạn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này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tiêu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tốn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khá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nhiều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thời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gian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nhưng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lại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ko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tạo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ra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thêm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giá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trị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nào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cho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sản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phẩm</a:t>
            </a:r>
            <a:r>
              <a:rPr lang="en-US" sz="4000" dirty="0">
                <a:latin typeface="+mj-lt"/>
              </a:rPr>
              <a:t>. </a:t>
            </a:r>
            <a:r>
              <a:rPr lang="en-US" sz="4000" dirty="0" err="1">
                <a:latin typeface="+mj-lt"/>
              </a:rPr>
              <a:t>Và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chắc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hẳn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rằng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nhà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quản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lý</a:t>
            </a:r>
            <a:r>
              <a:rPr lang="en-US" sz="4000" dirty="0">
                <a:latin typeface="+mj-lt"/>
              </a:rPr>
              <a:t> hay </a:t>
            </a:r>
            <a:r>
              <a:rPr lang="en-US" sz="4000" dirty="0" err="1">
                <a:latin typeface="+mj-lt"/>
              </a:rPr>
              <a:t>khách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hàng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đều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ko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thích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việc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phải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tốn</a:t>
            </a:r>
            <a:r>
              <a:rPr lang="en-US" sz="4000" dirty="0">
                <a:latin typeface="+mj-lt"/>
              </a:rPr>
              <a:t> time </a:t>
            </a:r>
            <a:r>
              <a:rPr lang="en-US" sz="4000" dirty="0" err="1">
                <a:latin typeface="+mj-lt"/>
              </a:rPr>
              <a:t>và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tốn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tiền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cho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nó</a:t>
            </a:r>
            <a:r>
              <a:rPr lang="en-US" sz="4000" dirty="0">
                <a:latin typeface="+mj-lt"/>
              </a:rPr>
              <a:t>. Do </a:t>
            </a:r>
            <a:r>
              <a:rPr lang="en-US" sz="4000" dirty="0" err="1">
                <a:latin typeface="+mj-lt"/>
              </a:rPr>
              <a:t>đó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các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lập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trình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viên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cần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phải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nâng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cao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tính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hiệu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quả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trong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việc</a:t>
            </a:r>
            <a:r>
              <a:rPr lang="en-US" sz="4000" dirty="0">
                <a:latin typeface="+mj-lt"/>
              </a:rPr>
              <a:t> debug</a:t>
            </a:r>
            <a:r>
              <a:rPr lang="en-US" sz="4000" dirty="0" smtClean="0">
                <a:latin typeface="+mj-lt"/>
              </a:rPr>
              <a:t>.</a:t>
            </a:r>
          </a:p>
          <a:p>
            <a:r>
              <a:rPr lang="en-US" sz="4000" dirty="0" err="1">
                <a:latin typeface="+mj-lt"/>
              </a:rPr>
              <a:t>Việc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phát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hiện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sớm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các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vấn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đề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trong</a:t>
            </a:r>
            <a:r>
              <a:rPr lang="en-US" sz="4000" dirty="0">
                <a:latin typeface="+mj-lt"/>
              </a:rPr>
              <a:t> code </a:t>
            </a:r>
            <a:r>
              <a:rPr lang="en-US" sz="4000" dirty="0" err="1">
                <a:latin typeface="+mj-lt"/>
              </a:rPr>
              <a:t>trước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khi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bước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vào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giai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đoạn</a:t>
            </a:r>
            <a:r>
              <a:rPr lang="en-US" sz="4000" dirty="0">
                <a:latin typeface="+mj-lt"/>
              </a:rPr>
              <a:t> test </a:t>
            </a:r>
            <a:r>
              <a:rPr lang="en-US" sz="4000" dirty="0" err="1">
                <a:latin typeface="+mj-lt"/>
              </a:rPr>
              <a:t>sẽ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giảm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thiểu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được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nhiều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công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số</a:t>
            </a:r>
            <a:r>
              <a:rPr lang="en-US" sz="4000" dirty="0">
                <a:latin typeface="+mj-lt"/>
              </a:rPr>
              <a:t>. </a:t>
            </a:r>
            <a:r>
              <a:rPr lang="en-US" sz="4000" dirty="0" err="1">
                <a:latin typeface="+mj-lt"/>
              </a:rPr>
              <a:t>Bằng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cách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sử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dụng</a:t>
            </a:r>
            <a:r>
              <a:rPr lang="en-US" sz="4000" dirty="0">
                <a:latin typeface="+mj-lt"/>
              </a:rPr>
              <a:t> Unit test, </a:t>
            </a:r>
            <a:r>
              <a:rPr lang="en-US" sz="4000" dirty="0" err="1">
                <a:latin typeface="+mj-lt"/>
              </a:rPr>
              <a:t>hoặc</a:t>
            </a:r>
            <a:r>
              <a:rPr lang="en-US" sz="4000" dirty="0">
                <a:latin typeface="+mj-lt"/>
              </a:rPr>
              <a:t> review code </a:t>
            </a:r>
            <a:r>
              <a:rPr lang="en-US" sz="4000" dirty="0" err="1">
                <a:latin typeface="+mj-lt"/>
              </a:rPr>
              <a:t>hoặc</a:t>
            </a:r>
            <a:r>
              <a:rPr lang="en-US" sz="4000" dirty="0">
                <a:latin typeface="+mj-lt"/>
              </a:rPr>
              <a:t> pair programming, …</a:t>
            </a: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7833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820</Words>
  <Application>Microsoft Office PowerPoint</Application>
  <PresentationFormat>Widescreen</PresentationFormat>
  <Paragraphs>59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Debug</vt:lpstr>
      <vt:lpstr>I. Debug là gì? </vt:lpstr>
      <vt:lpstr>I. Debug là gì?</vt:lpstr>
      <vt:lpstr>II. Tác dụng của Debug </vt:lpstr>
      <vt:lpstr>III. Quy trình debug</vt:lpstr>
      <vt:lpstr>III.Quy trình debug</vt:lpstr>
      <vt:lpstr>I.3.Quy trình debug</vt:lpstr>
      <vt:lpstr>III.Quy trình debug</vt:lpstr>
      <vt:lpstr>III Quy trình debug </vt:lpstr>
      <vt:lpstr>I.3.Quy trình debug </vt:lpstr>
      <vt:lpstr>TỔNG KẾT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Debugging</dc:title>
  <dc:creator>Le Diep Oanh</dc:creator>
  <cp:lastModifiedBy>Vu Thi Thanh Nga</cp:lastModifiedBy>
  <cp:revision>131</cp:revision>
  <dcterms:created xsi:type="dcterms:W3CDTF">2019-12-16T01:42:48Z</dcterms:created>
  <dcterms:modified xsi:type="dcterms:W3CDTF">2020-04-16T03:31:40Z</dcterms:modified>
</cp:coreProperties>
</file>